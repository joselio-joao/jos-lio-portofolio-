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 type="screen4x3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/>
          <p:nvPr>
            <p:ph type="sldImg"/>
          </p:nvPr>
        </p:nvSpPr>
        <p:spPr/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/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1028700"/>
            <a:ext cx="2738456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PRODUTO · PROCESSO · INDUSTRIALIZAÇÃO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485775" y="1414463"/>
            <a:ext cx="4429125" cy="180692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3400" kern="0" spc="-2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PROTEÇÃO</a:t>
            </a:r>
            <a:r>
              <a:rPr lang="en-US" sz="3400" kern="0" spc="-2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3400" kern="0" spc="-2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TRANSPARENTE.</a:t>
            </a:r>
            <a:r>
              <a:rPr lang="en-US" sz="3400" kern="0" spc="-2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3400" kern="0" spc="-2" dirty="0">
                <a:solidFill>
                  <a:srgbClr val="168FDE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LEITURA PRECISA</a:t>
            </a:r>
            <a:r>
              <a:rPr lang="en-US" sz="3400" kern="0" spc="-2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3400" kern="0" spc="-2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DA LENTE.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514350" y="3200400"/>
            <a:ext cx="3357563" cy="48689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250" dirty="0">
                <a:solidFill>
                  <a:srgbClr val="586875"/>
                </a:solidFill>
                <a:latin typeface="Arial" charset="0"/>
                <a:ea typeface="Arial" charset="0"/>
                <a:cs typeface="Arial" charset="0"/>
              </a:rPr>
              <a:t>Sistema de película óptica configurado pela geometria da lente e da armação.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7041003" y="4357688"/>
            <a:ext cx="1317185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287EB6"/>
                </a:solidFill>
                <a:latin typeface="Arial" charset="0"/>
                <a:ea typeface="Arial" charset="0"/>
                <a:cs typeface="Arial" charset="0"/>
              </a:rPr>
              <a:t>CLEARLAYER / 01 · 2026</a:t>
            </a:r>
            <a:endParaRPr lang="en-US" sz="750" dirty="0"/>
          </a:p>
        </p:txBody>
      </p:sp>
      <p:sp>
        <p:nvSpPr>
          <p:cNvPr id="9" name="Text 4"/>
          <p:cNvSpPr/>
          <p:nvPr/>
        </p:nvSpPr>
        <p:spPr>
          <a:xfrm>
            <a:off x="514350" y="4393406"/>
            <a:ext cx="3329769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62717C"/>
                </a:solidFill>
                <a:latin typeface="Arial" charset="0"/>
                <a:ea typeface="Arial" charset="0"/>
                <a:cs typeface="Arial" charset="0"/>
              </a:rPr>
              <a:t>PROTÓTIPO DE ENGENHARIA · EM DESENVOLVIMENTO</a:t>
            </a:r>
            <a:endParaRPr lang="en-US" sz="800" dirty="0"/>
          </a:p>
        </p:txBody>
      </p:sp>
      <p:pic>
        <p:nvPicPr>
          <p:cNvPr id="10" name="Imagem 9" descr="2026-08-17 00:44:40.410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2230" y="-203835"/>
            <a:ext cx="5044440" cy="5044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1134517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01 / ARQUITETURA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3286125" cy="11358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A película como </a:t>
            </a: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objeto</a:t>
            </a: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de engenharia.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00063" y="2250281"/>
            <a:ext cx="2786063" cy="8039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dirty="0">
                <a:solidFill>
                  <a:srgbClr val="52626E"/>
                </a:solidFill>
                <a:latin typeface="Arial" charset="0"/>
                <a:ea typeface="Arial" charset="0"/>
                <a:cs typeface="Arial" charset="0"/>
              </a:rPr>
              <a:t>O conjunto óptico é definido por forma, espessura, adesão e remoção.</a:t>
            </a:r>
            <a:endParaRPr lang="en-US" sz="1600" dirty="0">
              <a:solidFill>
                <a:srgbClr val="52626E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940" y="382905"/>
            <a:ext cx="6222365" cy="331279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0063" y="3943350"/>
            <a:ext cx="8143875" cy="807244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Shape 4"/>
          <p:cNvSpPr/>
          <p:nvPr/>
        </p:nvSpPr>
        <p:spPr>
          <a:xfrm>
            <a:off x="500063" y="3943350"/>
            <a:ext cx="8143875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10" name="Text 5"/>
          <p:cNvSpPr/>
          <p:nvPr/>
        </p:nvSpPr>
        <p:spPr>
          <a:xfrm>
            <a:off x="500063" y="4079081"/>
            <a:ext cx="1939528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FILME ÓPTICO</a:t>
            </a:r>
            <a:endParaRPr lang="en-US" sz="750" dirty="0"/>
          </a:p>
        </p:txBody>
      </p:sp>
      <p:sp>
        <p:nvSpPr>
          <p:cNvPr id="11" name="Text 6"/>
          <p:cNvSpPr/>
          <p:nvPr/>
        </p:nvSpPr>
        <p:spPr>
          <a:xfrm>
            <a:off x="500063" y="4264819"/>
            <a:ext cx="1939528" cy="2464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0,075 </a:t>
            </a:r>
            <a:r>
              <a:rPr lang="en-US" sz="950" dirty="0">
                <a:solidFill>
                  <a:srgbClr val="168FDE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mm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2568178" y="4079081"/>
            <a:ext cx="1939528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CAMADA ADESIVA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2568178" y="4264819"/>
            <a:ext cx="1939528" cy="2464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0,020 </a:t>
            </a:r>
            <a:r>
              <a:rPr lang="en-US" sz="950" dirty="0">
                <a:solidFill>
                  <a:srgbClr val="168FDE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mm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636294" y="4079081"/>
            <a:ext cx="1939528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REVESTIMENTO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4636294" y="4264819"/>
            <a:ext cx="1939528" cy="2464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0,005 </a:t>
            </a:r>
            <a:r>
              <a:rPr lang="en-US" sz="950" dirty="0">
                <a:solidFill>
                  <a:srgbClr val="168FDE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mm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704409" y="4079081"/>
            <a:ext cx="1939528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CONJUNTO NOMINAL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6704409" y="4264819"/>
            <a:ext cx="1939528" cy="2464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0,10 </a:t>
            </a:r>
            <a:r>
              <a:rPr lang="en-US" sz="950" dirty="0">
                <a:solidFill>
                  <a:srgbClr val="168FDE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mm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1005873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02 / ESTRUTURA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5381030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A arquitetura do filme é o produto.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6122863" y="1128713"/>
            <a:ext cx="2521074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1" dirty="0">
                <a:solidFill>
                  <a:srgbClr val="61717C"/>
                </a:solidFill>
                <a:latin typeface="Arial" charset="0"/>
                <a:ea typeface="Arial" charset="0"/>
                <a:cs typeface="Arial" charset="0"/>
              </a:rPr>
              <a:t>VISTA FRONTAL · 3/4 · LATERAL · ISOMÉTRICA</a:t>
            </a:r>
            <a:endParaRPr lang="en-US" sz="750" dirty="0"/>
          </a:p>
        </p:txBody>
      </p:sp>
      <p:sp>
        <p:nvSpPr>
          <p:cNvPr id="8" name="Shape 3"/>
          <p:cNvSpPr/>
          <p:nvPr/>
        </p:nvSpPr>
        <p:spPr>
          <a:xfrm>
            <a:off x="500063" y="3931295"/>
            <a:ext cx="8143875" cy="81215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Shape 4"/>
          <p:cNvSpPr/>
          <p:nvPr/>
        </p:nvSpPr>
        <p:spPr>
          <a:xfrm>
            <a:off x="500063" y="3931295"/>
            <a:ext cx="8143875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10" name="Text 5"/>
          <p:cNvSpPr/>
          <p:nvPr/>
        </p:nvSpPr>
        <p:spPr>
          <a:xfrm>
            <a:off x="500063" y="4067026"/>
            <a:ext cx="2502657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SUPERFÍCIE ÓPTICA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00063" y="4327773"/>
            <a:ext cx="2502657" cy="4085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Protege a zona funcional sem criar um rebordo visível.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267038" y="4067026"/>
            <a:ext cx="2502712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ADESÃO CONTROLADA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3267038" y="4327773"/>
            <a:ext cx="2502712" cy="4085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Fixa a película à lente e permite remoção segura.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034069" y="4067026"/>
            <a:ext cx="2502712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REVESTIMENTO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034069" y="4327773"/>
            <a:ext cx="2502712" cy="4085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Fecha o conjunto e prepara a superfície para uso e limpeza.</a:t>
            </a:r>
            <a:endParaRPr lang="en-US" sz="1150" dirty="0"/>
          </a:p>
        </p:txBody>
      </p:sp>
      <p:pic>
        <p:nvPicPr>
          <p:cNvPr id="16" name="Imagem 15" descr="2026-08-17 00:48:29.235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985" y="1035685"/>
            <a:ext cx="6004560" cy="4003040"/>
          </a:xfrm>
          <a:prstGeom prst="rect">
            <a:avLst/>
          </a:prstGeom>
        </p:spPr>
      </p:pic>
      <p:pic>
        <p:nvPicPr>
          <p:cNvPr id="18" name="Imagem 17" descr="2026-08-17 00:49:13.980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445" y="1780540"/>
            <a:ext cx="3578860" cy="2172335"/>
          </a:xfrm>
          <a:prstGeom prst="rect">
            <a:avLst/>
          </a:prstGeom>
        </p:spPr>
      </p:pic>
      <p:sp>
        <p:nvSpPr>
          <p:cNvPr id="19" name="Caixa de Texto 18"/>
          <p:cNvSpPr txBox="1"/>
          <p:nvPr/>
        </p:nvSpPr>
        <p:spPr>
          <a:xfrm>
            <a:off x="416560" y="1446530"/>
            <a:ext cx="4883150" cy="20561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1600">
                <a:solidFill>
                  <a:schemeClr val="bg2">
                    <a:lumMod val="50000"/>
                  </a:schemeClr>
                </a:solidFill>
                <a:latin typeface="Arial" charset="0"/>
                <a:cs typeface="Arial" charset="0"/>
              </a:rPr>
              <a:t>A ClearLayer não é apenas uma película transparente: é um conjunto óptico fino, dimensionado para proteger a zona funcional da lente sem criar um rebordo visível.</a:t>
            </a:r>
            <a:endParaRPr lang="en-US" altLang="en-US" sz="1600">
              <a:solidFill>
                <a:schemeClr val="bg2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sp>
        <p:nvSpPr>
          <p:cNvPr id="20" name="Caixa de Texto 19"/>
          <p:cNvSpPr txBox="1"/>
          <p:nvPr/>
        </p:nvSpPr>
        <p:spPr>
          <a:xfrm>
            <a:off x="416560" y="2914015"/>
            <a:ext cx="4883150" cy="20561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US" altLang="en-US" sz="1200">
                <a:solidFill>
                  <a:schemeClr val="bg2">
                    <a:lumMod val="50000"/>
                  </a:schemeClr>
                </a:solidFill>
                <a:latin typeface="Arial" charset="0"/>
                <a:cs typeface="Arial" charset="0"/>
              </a:rPr>
              <a:t>A película é construída como uma sequência controlada de camadas. Cada camada tem uma função específica: formar a superfície óptica, garantir a adesão à lente e proteger o conjunto durante a utilização e a limpeza.</a:t>
            </a:r>
            <a:endParaRPr lang="en-US" altLang="en-US" sz="1200">
              <a:solidFill>
                <a:schemeClr val="bg2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950509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03 / VERSÃO 01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3696277" cy="4250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V1 — película adesiva</a:t>
            </a:r>
            <a:endParaRPr lang="en-US" sz="2800" dirty="0"/>
          </a:p>
        </p:txBody>
      </p:sp>
      <p:sp>
        <p:nvSpPr>
          <p:cNvPr id="7" name="Shape 2"/>
          <p:cNvSpPr/>
          <p:nvPr/>
        </p:nvSpPr>
        <p:spPr>
          <a:xfrm>
            <a:off x="4857750" y="1643063"/>
            <a:ext cx="3571875" cy="254563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Text 4"/>
          <p:cNvSpPr/>
          <p:nvPr/>
        </p:nvSpPr>
        <p:spPr>
          <a:xfrm>
            <a:off x="5482590" y="1277620"/>
            <a:ext cx="281876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APLICAÇÃO DIRETA NA LENTE</a:t>
            </a:r>
            <a:endParaRPr lang="en-US" sz="1200" kern="0" spc="1" dirty="0">
              <a:solidFill>
                <a:srgbClr val="168FDE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4857750" y="1881346"/>
            <a:ext cx="3571875" cy="4971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A V1 é uma película adesiva. Não é um clip.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857750" y="2683148"/>
            <a:ext cx="3571875" cy="428625"/>
          </a:xfrm>
          <a:prstGeom prst="rect">
            <a:avLst/>
          </a:prstGeom>
          <a:noFill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Forma:</a:t>
            </a:r>
            <a:r>
              <a:rPr lang="en-US" sz="120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 película plana, recortada ao perfil.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857750" y="3111773"/>
            <a:ext cx="3571875" cy="527745"/>
          </a:xfrm>
          <a:prstGeom prst="rect">
            <a:avLst/>
          </a:prstGeom>
          <a:noFill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Referência:</a:t>
            </a:r>
            <a:r>
              <a:rPr lang="en-US" sz="120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 50 × 44 mm; aba de remoção 8 × 4 </a:t>
            </a:r>
            <a:r>
              <a:rPr lang="en-US" sz="120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mm.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4857750" y="3639517"/>
            <a:ext cx="3571875" cy="527745"/>
          </a:xfrm>
          <a:prstGeom prst="rect">
            <a:avLst/>
          </a:prstGeom>
          <a:noFill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Operação:</a:t>
            </a:r>
            <a:r>
              <a:rPr lang="en-US" sz="120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 limpar, alinhar, pressionar e </a:t>
            </a:r>
            <a:r>
              <a:rPr lang="en-US" sz="120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inspecionar.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500063" y="4479131"/>
            <a:ext cx="8143875" cy="30718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5" name="Shape 10"/>
          <p:cNvSpPr/>
          <p:nvPr/>
        </p:nvSpPr>
        <p:spPr>
          <a:xfrm>
            <a:off x="500063" y="4479131"/>
            <a:ext cx="8143875" cy="14288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16" name="Text 11"/>
          <p:cNvSpPr/>
          <p:nvPr/>
        </p:nvSpPr>
        <p:spPr>
          <a:xfrm>
            <a:off x="500063" y="4479131"/>
            <a:ext cx="8143875" cy="307181"/>
          </a:xfrm>
          <a:prstGeom prst="rect">
            <a:avLst/>
          </a:prstGeom>
          <a:noFill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REGRA V1:</a:t>
            </a:r>
            <a:r>
              <a:rPr lang="en-US" sz="120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 sem clip · sem encaixe periférico · sem aperto mecânico.</a:t>
            </a:r>
            <a:endParaRPr lang="en-US" sz="1150" dirty="0"/>
          </a:p>
        </p:txBody>
      </p:sp>
      <p:pic>
        <p:nvPicPr>
          <p:cNvPr id="17" name="Imagem 16" descr="2026-08-17 01:01:47.317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40" y="857250"/>
            <a:ext cx="4260850" cy="2840990"/>
          </a:xfrm>
          <a:prstGeom prst="rect">
            <a:avLst/>
          </a:prstGeom>
        </p:spPr>
      </p:pic>
      <p:sp>
        <p:nvSpPr>
          <p:cNvPr id="18" name="Shape 3"/>
          <p:cNvSpPr/>
          <p:nvPr/>
        </p:nvSpPr>
        <p:spPr>
          <a:xfrm>
            <a:off x="4899025" y="1127760"/>
            <a:ext cx="3571875" cy="21590"/>
          </a:xfrm>
          <a:prstGeom prst="rect">
            <a:avLst/>
          </a:prstGeom>
          <a:solidFill>
            <a:srgbClr val="168FDE"/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950509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04 / VERSÃO 02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3036094" cy="14421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26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V2 — pré-</a:t>
            </a:r>
            <a:r>
              <a:rPr lang="en-US" sz="26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conformada</a:t>
            </a:r>
            <a:r>
              <a:rPr lang="en-US" sz="26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26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para armações</a:t>
            </a:r>
            <a:r>
              <a:rPr lang="en-US" sz="26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26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com aro.</a:t>
            </a:r>
            <a:endParaRPr lang="en-US" sz="2650" dirty="0"/>
          </a:p>
        </p:txBody>
      </p:sp>
      <p:sp>
        <p:nvSpPr>
          <p:cNvPr id="6" name="Text 2"/>
          <p:cNvSpPr/>
          <p:nvPr/>
        </p:nvSpPr>
        <p:spPr>
          <a:xfrm>
            <a:off x="500063" y="2607469"/>
            <a:ext cx="2714625" cy="8191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A retenção periférica só é aceitável quando o aro absorve a força mecânica.</a:t>
            </a:r>
            <a:endParaRPr lang="en-US" sz="1600" dirty="0">
              <a:solidFill>
                <a:srgbClr val="52636E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500063" y="4262586"/>
            <a:ext cx="8143875" cy="523726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Shape 4"/>
          <p:cNvSpPr/>
          <p:nvPr/>
        </p:nvSpPr>
        <p:spPr>
          <a:xfrm>
            <a:off x="500063" y="4262586"/>
            <a:ext cx="8143875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10" name="Text 5"/>
          <p:cNvSpPr/>
          <p:nvPr/>
        </p:nvSpPr>
        <p:spPr>
          <a:xfrm>
            <a:off x="500063" y="4384030"/>
            <a:ext cx="3964781" cy="4022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V2:</a:t>
            </a:r>
            <a:r>
              <a:rPr lang="en-US" sz="115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 geometria pré-conformada, matriz feminina, mandril </a:t>
            </a:r>
            <a:r>
              <a:rPr lang="en-US" sz="115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macho e base de alinhamento.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4679156" y="4384030"/>
            <a:ext cx="3964781" cy="40228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Limite:</a:t>
            </a:r>
            <a:r>
              <a:rPr lang="en-US" sz="115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 full-rim only. O modelo sem aro permanece </a:t>
            </a:r>
            <a:r>
              <a:rPr lang="en-US" sz="115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exclusivamente V1.</a:t>
            </a:r>
            <a:endParaRPr lang="en-US" sz="1100" dirty="0"/>
          </a:p>
        </p:txBody>
      </p:sp>
      <p:pic>
        <p:nvPicPr>
          <p:cNvPr id="12" name="Imagem 11" descr="2026-08-17 01:04:24.350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185" y="-662940"/>
            <a:ext cx="5767070" cy="4089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1376902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05 / COMPATIBILIDADE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4764770" cy="392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Quatro perfis. Quatro decisões.</a:t>
            </a:r>
            <a:endParaRPr lang="en-US" sz="2600" dirty="0"/>
          </a:p>
        </p:txBody>
      </p:sp>
      <p:sp>
        <p:nvSpPr>
          <p:cNvPr id="6" name="Text 2"/>
          <p:cNvSpPr/>
          <p:nvPr/>
        </p:nvSpPr>
        <p:spPr>
          <a:xfrm>
            <a:off x="500380" y="1428750"/>
            <a:ext cx="5937885" cy="2514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61717B"/>
                </a:solidFill>
                <a:latin typeface="Arial" charset="0"/>
                <a:ea typeface="Arial" charset="0"/>
                <a:cs typeface="Arial" charset="0"/>
              </a:rPr>
              <a:t>A forma da armação define o processo.</a:t>
            </a:r>
            <a:endParaRPr lang="en-US" sz="1650" dirty="0">
              <a:solidFill>
                <a:srgbClr val="61717B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500063" y="3929063"/>
            <a:ext cx="8143875" cy="82153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Shape 4"/>
          <p:cNvSpPr/>
          <p:nvPr/>
        </p:nvSpPr>
        <p:spPr>
          <a:xfrm>
            <a:off x="500063" y="3929063"/>
            <a:ext cx="8143875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10" name="Text 5"/>
          <p:cNvSpPr/>
          <p:nvPr/>
        </p:nvSpPr>
        <p:spPr>
          <a:xfrm>
            <a:off x="500063" y="4057650"/>
            <a:ext cx="193952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REDONDO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500063" y="4325541"/>
            <a:ext cx="1939528" cy="392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V1 + V2</a:t>
            </a: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
</a:t>
            </a: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a validar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2568178" y="4057650"/>
            <a:ext cx="193952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QUADRADO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2568178" y="4325541"/>
            <a:ext cx="1939528" cy="392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V1 + V2</a:t>
            </a: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
</a:t>
            </a: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a validar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636294" y="4057650"/>
            <a:ext cx="193952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AVIADOR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636294" y="4325541"/>
            <a:ext cx="1939528" cy="392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V1 + V2</a:t>
            </a: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
</a:t>
            </a:r>
            <a:r>
              <a:rPr lang="en-US" sz="115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a validar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6704409" y="4057650"/>
            <a:ext cx="1939528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SEM ARO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704409" y="4325541"/>
            <a:ext cx="1939528" cy="3929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V1 ONLY</a:t>
            </a:r>
            <a:r>
              <a:rPr lang="en-US" sz="110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
</a:t>
            </a:r>
            <a:r>
              <a:rPr lang="en-US" sz="110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adesiva</a:t>
            </a:r>
            <a:endParaRPr lang="en-US" sz="1100" dirty="0"/>
          </a:p>
        </p:txBody>
      </p:sp>
      <p:pic>
        <p:nvPicPr>
          <p:cNvPr id="3" name="Imagem 2" descr="2026-08-17 01:55:11.820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20" y="1451610"/>
            <a:ext cx="8622030" cy="28740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1160413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06 / FERRAMENTAL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3030345" cy="7858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O ferramental fecha</a:t>
            </a:r>
            <a:r>
              <a:rPr lang="en-US" sz="2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26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a geometria.</a:t>
            </a:r>
            <a:endParaRPr lang="en-US" sz="2600" dirty="0"/>
          </a:p>
        </p:txBody>
      </p:sp>
      <p:sp>
        <p:nvSpPr>
          <p:cNvPr id="7" name="Shape 2"/>
          <p:cNvSpPr/>
          <p:nvPr/>
        </p:nvSpPr>
        <p:spPr>
          <a:xfrm>
            <a:off x="4286250" y="1750219"/>
            <a:ext cx="4357688" cy="263872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8" name="Shape 3"/>
          <p:cNvSpPr/>
          <p:nvPr/>
        </p:nvSpPr>
        <p:spPr>
          <a:xfrm>
            <a:off x="4286250" y="1418114"/>
            <a:ext cx="4357688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9" name="Text 4"/>
          <p:cNvSpPr/>
          <p:nvPr/>
        </p:nvSpPr>
        <p:spPr>
          <a:xfrm>
            <a:off x="4286250" y="1843088"/>
            <a:ext cx="230442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68FDE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01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757738" y="1821974"/>
            <a:ext cx="3886200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BASE DE ALINHAMENTO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757738" y="2143125"/>
            <a:ext cx="3886200" cy="4085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Posiciona lente, película e eixo de aplicação antes da força.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4286250" y="2751683"/>
            <a:ext cx="230442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68FDE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02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4757738" y="2773114"/>
            <a:ext cx="3886200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MATRIZ FEMININA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757738" y="3051721"/>
            <a:ext cx="3886200" cy="40853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Recebe o contorno externo e define a forma de conformação.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4286250" y="3660279"/>
            <a:ext cx="230442" cy="2393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168FDE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03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757738" y="3681710"/>
            <a:ext cx="3886200" cy="2143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MANDRIL MACHO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57738" y="3960316"/>
            <a:ext cx="3886200" cy="2042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Transfere a geometria interna com pressão distribuída.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500063" y="4650581"/>
            <a:ext cx="2474361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63737D"/>
                </a:solidFill>
                <a:latin typeface="Arial" charset="0"/>
                <a:ea typeface="Arial" charset="0"/>
                <a:cs typeface="Arial" charset="0"/>
              </a:rPr>
              <a:t>ALINHAR → CONFORMAR → INSPECIONAR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950509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07 / VERSÃO 03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1908810" y="1129665"/>
            <a:ext cx="5326380" cy="356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7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V3 — </a:t>
            </a:r>
            <a:r>
              <a:rPr lang="en-US" sz="27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industrialização </a:t>
            </a:r>
            <a:r>
              <a:rPr lang="en-US" sz="27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por receita.</a:t>
            </a:r>
            <a:endParaRPr lang="en-US" sz="2750" dirty="0"/>
          </a:p>
        </p:txBody>
      </p:sp>
      <p:sp>
        <p:nvSpPr>
          <p:cNvPr id="6" name="Text 2"/>
          <p:cNvSpPr/>
          <p:nvPr/>
        </p:nvSpPr>
        <p:spPr>
          <a:xfrm>
            <a:off x="1025525" y="1734185"/>
            <a:ext cx="7618095" cy="2730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Cada geometria passa a ser uma operação repetível, controlada e rastreável.</a:t>
            </a:r>
            <a:endParaRPr lang="en-US" sz="1600" dirty="0">
              <a:solidFill>
                <a:srgbClr val="52636E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500063" y="3986213"/>
            <a:ext cx="8143875" cy="76438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9" name="Shape 4"/>
          <p:cNvSpPr/>
          <p:nvPr/>
        </p:nvSpPr>
        <p:spPr>
          <a:xfrm>
            <a:off x="500063" y="3986213"/>
            <a:ext cx="8143875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10" name="Text 5"/>
          <p:cNvSpPr/>
          <p:nvPr/>
        </p:nvSpPr>
        <p:spPr>
          <a:xfrm>
            <a:off x="500063" y="4114800"/>
            <a:ext cx="193952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01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500063" y="4286250"/>
            <a:ext cx="1939528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PRENSA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00063" y="4550569"/>
            <a:ext cx="1939528" cy="1828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C75"/>
                </a:solidFill>
                <a:latin typeface="Arial" charset="0"/>
                <a:ea typeface="Arial" charset="0"/>
                <a:cs typeface="Arial" charset="0"/>
              </a:rPr>
              <a:t>pressão e tempo controlados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2568178" y="4114800"/>
            <a:ext cx="193952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02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2568178" y="4286250"/>
            <a:ext cx="1939528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INSERTOS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2568178" y="4550569"/>
            <a:ext cx="1939528" cy="1828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C75"/>
                </a:solidFill>
                <a:latin typeface="Arial" charset="0"/>
                <a:ea typeface="Arial" charset="0"/>
                <a:cs typeface="Arial" charset="0"/>
              </a:rPr>
              <a:t>um conjunto por geometria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636294" y="4114800"/>
            <a:ext cx="193952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03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4636294" y="4286250"/>
            <a:ext cx="1939528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RECEITA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36294" y="4550569"/>
            <a:ext cx="1939528" cy="1828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C75"/>
                </a:solidFill>
                <a:latin typeface="Arial" charset="0"/>
                <a:ea typeface="Arial" charset="0"/>
                <a:cs typeface="Arial" charset="0"/>
              </a:rPr>
              <a:t>parâmetros registados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704409" y="4114800"/>
            <a:ext cx="1939528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04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704409" y="4286250"/>
            <a:ext cx="1939528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LOTE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704409" y="4550569"/>
            <a:ext cx="1939528" cy="18283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050" dirty="0">
                <a:solidFill>
                  <a:srgbClr val="5C6C75"/>
                </a:solidFill>
                <a:latin typeface="Arial" charset="0"/>
                <a:ea typeface="Arial" charset="0"/>
                <a:cs typeface="Arial" charset="0"/>
              </a:rPr>
              <a:t>rastreabilidade do processo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 l="136" r="-136"/>
          <a:stretch>
            <a:fillRect/>
          </a:stretch>
        </p:blipFill>
        <p:spPr>
          <a:xfrm>
            <a:off x="-12065" y="0"/>
            <a:ext cx="9144000" cy="515493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2061809" cy="1143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08 / ARQUITETURA DE PROCESSO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3712797" cy="4107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O esboço V3 Industrial.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500063" y="1571625"/>
            <a:ext cx="3612003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52636E"/>
                </a:solidFill>
                <a:latin typeface="Arial" charset="0"/>
                <a:ea typeface="Arial" charset="0"/>
                <a:cs typeface="Arial" charset="0"/>
              </a:rPr>
              <a:t>Quatro módulos. Uma única cadeia de decisão.</a:t>
            </a:r>
            <a:endParaRPr lang="en-US" sz="1250" dirty="0"/>
          </a:p>
        </p:txBody>
      </p:sp>
      <p:sp>
        <p:nvSpPr>
          <p:cNvPr id="7" name="Shape 3"/>
          <p:cNvSpPr/>
          <p:nvPr/>
        </p:nvSpPr>
        <p:spPr>
          <a:xfrm>
            <a:off x="500063" y="2214563"/>
            <a:ext cx="1902023" cy="149365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8" name="Shape 4"/>
          <p:cNvSpPr/>
          <p:nvPr/>
        </p:nvSpPr>
        <p:spPr>
          <a:xfrm>
            <a:off x="500063" y="2214563"/>
            <a:ext cx="1902023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9" name="Shape 5"/>
          <p:cNvSpPr/>
          <p:nvPr/>
        </p:nvSpPr>
        <p:spPr>
          <a:xfrm>
            <a:off x="500063" y="3701076"/>
            <a:ext cx="1902023" cy="7144"/>
          </a:xfrm>
          <a:prstGeom prst="rect">
            <a:avLst/>
          </a:prstGeom>
          <a:solidFill>
            <a:srgbClr val="CBD7DF"/>
          </a:solidFill>
        </p:spPr>
      </p:sp>
      <p:sp>
        <p:nvSpPr>
          <p:cNvPr id="10" name="Text 6"/>
          <p:cNvSpPr/>
          <p:nvPr/>
        </p:nvSpPr>
        <p:spPr>
          <a:xfrm>
            <a:off x="500063" y="2336006"/>
            <a:ext cx="1802011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01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500063" y="2628900"/>
            <a:ext cx="1802011" cy="221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PREPARAR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00063" y="2943225"/>
            <a:ext cx="1802011" cy="63640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Arial" charset="0"/>
                <a:ea typeface="Arial" charset="0"/>
                <a:cs typeface="Arial" charset="0"/>
              </a:rPr>
              <a:t>Lente limpa, película orientada, ferramenta configurada.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330648" y="2707481"/>
            <a:ext cx="228600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→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2580680" y="2214563"/>
            <a:ext cx="1902023" cy="146508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5" name="Shape 11"/>
          <p:cNvSpPr/>
          <p:nvPr/>
        </p:nvSpPr>
        <p:spPr>
          <a:xfrm>
            <a:off x="2580680" y="2214563"/>
            <a:ext cx="1902023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16" name="Shape 12"/>
          <p:cNvSpPr/>
          <p:nvPr/>
        </p:nvSpPr>
        <p:spPr>
          <a:xfrm>
            <a:off x="2580680" y="3672501"/>
            <a:ext cx="1902023" cy="7144"/>
          </a:xfrm>
          <a:prstGeom prst="rect">
            <a:avLst/>
          </a:prstGeom>
          <a:solidFill>
            <a:srgbClr val="CBD7DF"/>
          </a:solidFill>
        </p:spPr>
      </p:sp>
      <p:sp>
        <p:nvSpPr>
          <p:cNvPr id="17" name="Text 13"/>
          <p:cNvSpPr/>
          <p:nvPr/>
        </p:nvSpPr>
        <p:spPr>
          <a:xfrm>
            <a:off x="2580680" y="2336006"/>
            <a:ext cx="1802011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02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580680" y="2628900"/>
            <a:ext cx="1802011" cy="221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CONFORMAR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2580680" y="2943225"/>
            <a:ext cx="1802011" cy="4242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Arial" charset="0"/>
                <a:ea typeface="Arial" charset="0"/>
                <a:cs typeface="Arial" charset="0"/>
              </a:rPr>
              <a:t>Pressão distribuída e geometria repetível.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4411266" y="2707481"/>
            <a:ext cx="228600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→</a:t>
            </a:r>
            <a:endParaRPr lang="en-US" sz="1700" dirty="0"/>
          </a:p>
        </p:txBody>
      </p:sp>
      <p:sp>
        <p:nvSpPr>
          <p:cNvPr id="21" name="Shape 17"/>
          <p:cNvSpPr/>
          <p:nvPr/>
        </p:nvSpPr>
        <p:spPr>
          <a:xfrm>
            <a:off x="4661297" y="2214563"/>
            <a:ext cx="1902023" cy="146508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2" name="Shape 18"/>
          <p:cNvSpPr/>
          <p:nvPr/>
        </p:nvSpPr>
        <p:spPr>
          <a:xfrm>
            <a:off x="4661297" y="2214563"/>
            <a:ext cx="1902023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23" name="Shape 19"/>
          <p:cNvSpPr/>
          <p:nvPr/>
        </p:nvSpPr>
        <p:spPr>
          <a:xfrm>
            <a:off x="4661297" y="3672501"/>
            <a:ext cx="1902023" cy="7144"/>
          </a:xfrm>
          <a:prstGeom prst="rect">
            <a:avLst/>
          </a:prstGeom>
          <a:solidFill>
            <a:srgbClr val="CBD7DF"/>
          </a:solidFill>
        </p:spPr>
      </p:sp>
      <p:sp>
        <p:nvSpPr>
          <p:cNvPr id="24" name="Text 20"/>
          <p:cNvSpPr/>
          <p:nvPr/>
        </p:nvSpPr>
        <p:spPr>
          <a:xfrm>
            <a:off x="4661297" y="2336006"/>
            <a:ext cx="1802011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03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4661297" y="2628900"/>
            <a:ext cx="1802011" cy="221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INSPECIONAR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4661297" y="2943225"/>
            <a:ext cx="1802011" cy="4242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Arial" charset="0"/>
                <a:ea typeface="Arial" charset="0"/>
                <a:cs typeface="Arial" charset="0"/>
              </a:rPr>
              <a:t>Dimensão, aderência, distorção e borda.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491883" y="2707481"/>
            <a:ext cx="228600" cy="26431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→</a:t>
            </a:r>
            <a:endParaRPr lang="en-US" sz="1700" dirty="0"/>
          </a:p>
        </p:txBody>
      </p:sp>
      <p:sp>
        <p:nvSpPr>
          <p:cNvPr id="28" name="Shape 24"/>
          <p:cNvSpPr/>
          <p:nvPr/>
        </p:nvSpPr>
        <p:spPr>
          <a:xfrm>
            <a:off x="6741914" y="2214563"/>
            <a:ext cx="1902023" cy="146508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9" name="Shape 25"/>
          <p:cNvSpPr/>
          <p:nvPr/>
        </p:nvSpPr>
        <p:spPr>
          <a:xfrm>
            <a:off x="6741914" y="2214563"/>
            <a:ext cx="1902023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30" name="Shape 26"/>
          <p:cNvSpPr/>
          <p:nvPr/>
        </p:nvSpPr>
        <p:spPr>
          <a:xfrm>
            <a:off x="6741914" y="3672501"/>
            <a:ext cx="1902023" cy="7144"/>
          </a:xfrm>
          <a:prstGeom prst="rect">
            <a:avLst/>
          </a:prstGeom>
          <a:solidFill>
            <a:srgbClr val="CBD7DF"/>
          </a:solidFill>
        </p:spPr>
      </p:sp>
      <p:sp>
        <p:nvSpPr>
          <p:cNvPr id="31" name="Text 27"/>
          <p:cNvSpPr/>
          <p:nvPr/>
        </p:nvSpPr>
        <p:spPr>
          <a:xfrm>
            <a:off x="6741914" y="2336006"/>
            <a:ext cx="1802011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04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6741914" y="2628900"/>
            <a:ext cx="1802011" cy="22145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LIBERTAR</a:t>
            </a:r>
            <a:endParaRPr lang="en-US" sz="1450" dirty="0"/>
          </a:p>
        </p:txBody>
      </p:sp>
      <p:sp>
        <p:nvSpPr>
          <p:cNvPr id="33" name="Text 29"/>
          <p:cNvSpPr/>
          <p:nvPr/>
        </p:nvSpPr>
        <p:spPr>
          <a:xfrm>
            <a:off x="6741914" y="2943225"/>
            <a:ext cx="1802011" cy="4242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B6B75"/>
                </a:solidFill>
                <a:latin typeface="Arial" charset="0"/>
                <a:ea typeface="Arial" charset="0"/>
                <a:cs typeface="Arial" charset="0"/>
              </a:rPr>
              <a:t>Lote identificado e peça aprovada.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500063" y="4650581"/>
            <a:ext cx="3631816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687983"/>
                </a:solidFill>
                <a:latin typeface="Arial" charset="0"/>
                <a:ea typeface="Arial" charset="0"/>
                <a:cs typeface="Arial" charset="0"/>
              </a:rPr>
              <a:t>V3 = PROCESSO REPETÍVEL · NÃO APENAS UMA PEÇA BONITA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959718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09 / VALIDAÇÃO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2714625" cy="75009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Validação antes</a:t>
            </a: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de escala.</a:t>
            </a:r>
            <a:endParaRPr lang="en-US" sz="2700" dirty="0"/>
          </a:p>
        </p:txBody>
      </p:sp>
      <p:sp>
        <p:nvSpPr>
          <p:cNvPr id="6" name="Text 2"/>
          <p:cNvSpPr/>
          <p:nvPr/>
        </p:nvSpPr>
        <p:spPr>
          <a:xfrm>
            <a:off x="471805" y="1819910"/>
            <a:ext cx="3750945" cy="546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dirty="0">
                <a:solidFill>
                  <a:srgbClr val="576873"/>
                </a:solidFill>
                <a:latin typeface="Arial" charset="0"/>
                <a:ea typeface="Arial" charset="0"/>
                <a:cs typeface="Arial" charset="0"/>
              </a:rPr>
              <a:t>O avanço depende de evidência técnica, não apenas de aparência.</a:t>
            </a:r>
            <a:endParaRPr lang="en-US" sz="1600" dirty="0">
              <a:solidFill>
                <a:srgbClr val="576873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4643438" y="1071563"/>
            <a:ext cx="4000500" cy="3221831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0" name="Shape 5"/>
          <p:cNvSpPr/>
          <p:nvPr/>
        </p:nvSpPr>
        <p:spPr>
          <a:xfrm>
            <a:off x="4643438" y="1071563"/>
            <a:ext cx="4000500" cy="21431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11" name="Text 6"/>
          <p:cNvSpPr/>
          <p:nvPr/>
        </p:nvSpPr>
        <p:spPr>
          <a:xfrm>
            <a:off x="4643438" y="1369814"/>
            <a:ext cx="1464469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ADERÊNCIA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107906" y="1175538"/>
            <a:ext cx="1893094" cy="585006"/>
          </a:xfrm>
          <a:prstGeom prst="rect">
            <a:avLst/>
          </a:prstGeom>
          <a:noFill/>
        </p:spPr>
        <p:txBody>
          <a:bodyPr wrap="square" lIns="0" tIns="0" rIns="127508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Aplicação, remoção e estabilidade da superfície adesiva.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001000" y="1410891"/>
            <a:ext cx="642938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A TESTAR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4643438" y="2169914"/>
            <a:ext cx="1464469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ÓPTICA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107906" y="2073139"/>
            <a:ext cx="1893094" cy="390004"/>
          </a:xfrm>
          <a:prstGeom prst="rect">
            <a:avLst/>
          </a:prstGeom>
          <a:noFill/>
        </p:spPr>
        <p:txBody>
          <a:bodyPr wrap="square" lIns="0" tIns="0" rIns="127508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Transparência, distorção e leitura através da lente.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8001000" y="2210991"/>
            <a:ext cx="642938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A TESTAR</a:t>
            </a:r>
            <a:endParaRPr lang="en-US" sz="750" dirty="0"/>
          </a:p>
        </p:txBody>
      </p:sp>
      <p:sp>
        <p:nvSpPr>
          <p:cNvPr id="17" name="Text 12"/>
          <p:cNvSpPr/>
          <p:nvPr/>
        </p:nvSpPr>
        <p:spPr>
          <a:xfrm>
            <a:off x="4643438" y="2970014"/>
            <a:ext cx="1464469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BORDA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107906" y="2775738"/>
            <a:ext cx="1893094" cy="585006"/>
          </a:xfrm>
          <a:prstGeom prst="rect">
            <a:avLst/>
          </a:prstGeom>
          <a:noFill/>
        </p:spPr>
        <p:txBody>
          <a:bodyPr wrap="square" lIns="0" tIns="0" rIns="127508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Tensão na lente, especialmente em geometrias sem aro.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8001000" y="3011091"/>
            <a:ext cx="642938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CRÍTICO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4643438" y="3770114"/>
            <a:ext cx="1464469" cy="1964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REPETIBILIDADE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107906" y="3673339"/>
            <a:ext cx="1893094" cy="390004"/>
          </a:xfrm>
          <a:prstGeom prst="rect">
            <a:avLst/>
          </a:prstGeom>
          <a:noFill/>
        </p:spPr>
        <p:txBody>
          <a:bodyPr wrap="square" lIns="0" tIns="0" rIns="127508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Consistência de forma, pressão, tempo e lote.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001000" y="3811191"/>
            <a:ext cx="642938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buNone/>
            </a:pPr>
            <a:r>
              <a:rPr lang="en-US" sz="75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A TESTAR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500063" y="4650581"/>
            <a:ext cx="4221621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SEM RESULTADOS FABRICADOS · PRIMEIRO VALIDAR, DEPOIS ESCALAR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00063" y="742950"/>
            <a:ext cx="871761" cy="1143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kern="0" spc="2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10 / ROADMAP</a:t>
            </a:r>
            <a:endParaRPr lang="en-US" sz="750" dirty="0"/>
          </a:p>
        </p:txBody>
      </p:sp>
      <p:sp>
        <p:nvSpPr>
          <p:cNvPr id="5" name="Text 1"/>
          <p:cNvSpPr/>
          <p:nvPr/>
        </p:nvSpPr>
        <p:spPr>
          <a:xfrm>
            <a:off x="500063" y="1035844"/>
            <a:ext cx="3655089" cy="4250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8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Da definição à escala.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500380" y="1460500"/>
            <a:ext cx="4649470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576873"/>
                </a:solidFill>
                <a:latin typeface="Arial" charset="0"/>
                <a:ea typeface="Arial" charset="0"/>
                <a:cs typeface="Arial" charset="0"/>
              </a:rPr>
              <a:t>Cada versão reduz uma incerteza diferente.</a:t>
            </a:r>
            <a:endParaRPr lang="en-US" sz="1600" dirty="0">
              <a:solidFill>
                <a:srgbClr val="576873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00063" y="2689622"/>
            <a:ext cx="785924" cy="121444"/>
          </a:xfrm>
          <a:prstGeom prst="rect">
            <a:avLst/>
          </a:prstGeom>
          <a:solidFill>
            <a:srgbClr val="F8FAFB"/>
          </a:solidFill>
        </p:spPr>
      </p:sp>
      <p:sp>
        <p:nvSpPr>
          <p:cNvPr id="8" name="Text 4"/>
          <p:cNvSpPr/>
          <p:nvPr/>
        </p:nvSpPr>
        <p:spPr>
          <a:xfrm>
            <a:off x="500063" y="2689622"/>
            <a:ext cx="785924" cy="121444"/>
          </a:xfrm>
          <a:prstGeom prst="rect">
            <a:avLst/>
          </a:prstGeom>
          <a:noFill/>
        </p:spPr>
        <p:txBody>
          <a:bodyPr wrap="none" lIns="0" tIns="0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01 · DEFINIR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500063" y="2968228"/>
            <a:ext cx="2000250" cy="2643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V1 Flat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00063" y="3325416"/>
            <a:ext cx="2000250" cy="4242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Provar adesão, leitura</a:t>
            </a: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
</a:t>
            </a: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óptica e remoção.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3571875" y="2689622"/>
            <a:ext cx="1074018" cy="121444"/>
          </a:xfrm>
          <a:prstGeom prst="rect">
            <a:avLst/>
          </a:prstGeom>
          <a:solidFill>
            <a:srgbClr val="F8FAFB"/>
          </a:solidFill>
        </p:spPr>
      </p:sp>
      <p:sp>
        <p:nvSpPr>
          <p:cNvPr id="12" name="Text 8"/>
          <p:cNvSpPr/>
          <p:nvPr/>
        </p:nvSpPr>
        <p:spPr>
          <a:xfrm>
            <a:off x="3571875" y="2689622"/>
            <a:ext cx="1074018" cy="121444"/>
          </a:xfrm>
          <a:prstGeom prst="rect">
            <a:avLst/>
          </a:prstGeom>
          <a:noFill/>
        </p:spPr>
        <p:txBody>
          <a:bodyPr wrap="none" lIns="0" tIns="0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02 · CONFORMAR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3571875" y="2968228"/>
            <a:ext cx="2000250" cy="2643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V2 Press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571875" y="3325416"/>
            <a:ext cx="2000250" cy="4242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Provar forma pré-</a:t>
            </a: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
</a:t>
            </a: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conformada em full-rim.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643688" y="2689622"/>
            <a:ext cx="821754" cy="121444"/>
          </a:xfrm>
          <a:prstGeom prst="rect">
            <a:avLst/>
          </a:prstGeom>
          <a:solidFill>
            <a:srgbClr val="F8FAFB"/>
          </a:solidFill>
        </p:spPr>
      </p:sp>
      <p:sp>
        <p:nvSpPr>
          <p:cNvPr id="16" name="Text 12"/>
          <p:cNvSpPr/>
          <p:nvPr/>
        </p:nvSpPr>
        <p:spPr>
          <a:xfrm>
            <a:off x="6643688" y="2689622"/>
            <a:ext cx="821754" cy="121444"/>
          </a:xfrm>
          <a:prstGeom prst="rect">
            <a:avLst/>
          </a:prstGeom>
          <a:noFill/>
        </p:spPr>
        <p:txBody>
          <a:bodyPr wrap="none" lIns="0" tIns="0" rIns="68072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03 · REPETIR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643688" y="2968228"/>
            <a:ext cx="2000250" cy="2643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V3 Industrial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643688" y="3325416"/>
            <a:ext cx="2000250" cy="4242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Provar receita, lote e</a:t>
            </a: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
</a:t>
            </a:r>
            <a:r>
              <a:rPr lang="en-US" sz="1150" dirty="0">
                <a:solidFill>
                  <a:srgbClr val="5A6A74"/>
                </a:solidFill>
                <a:latin typeface="Arial" charset="0"/>
                <a:ea typeface="Arial" charset="0"/>
                <a:cs typeface="Arial" charset="0"/>
              </a:rPr>
              <a:t>consistência.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00063" y="4271963"/>
            <a:ext cx="8143875" cy="485775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20" name="Shape 16"/>
          <p:cNvSpPr/>
          <p:nvPr/>
        </p:nvSpPr>
        <p:spPr>
          <a:xfrm>
            <a:off x="500063" y="4271963"/>
            <a:ext cx="8143875" cy="14288"/>
          </a:xfrm>
          <a:prstGeom prst="rect">
            <a:avLst/>
          </a:prstGeom>
          <a:solidFill>
            <a:srgbClr val="168FDE"/>
          </a:solidFill>
        </p:spPr>
      </p:sp>
      <p:sp>
        <p:nvSpPr>
          <p:cNvPr id="21" name="Text 17"/>
          <p:cNvSpPr/>
          <p:nvPr/>
        </p:nvSpPr>
        <p:spPr>
          <a:xfrm>
            <a:off x="500063" y="4271963"/>
            <a:ext cx="8143875" cy="485775"/>
          </a:xfrm>
          <a:prstGeom prst="rect">
            <a:avLst/>
          </a:prstGeom>
          <a:noFill/>
        </p:spPr>
        <p:txBody>
          <a:bodyPr wrap="square" lIns="0" tIns="119126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ORDEM:</a:t>
            </a:r>
            <a:r>
              <a:rPr lang="en-US" sz="1050" dirty="0">
                <a:solidFill>
                  <a:srgbClr val="5F6F79"/>
                </a:solidFill>
                <a:latin typeface="Arial" charset="0"/>
                <a:ea typeface="Arial" charset="0"/>
                <a:cs typeface="Arial" charset="0"/>
              </a:rPr>
              <a:t> forma → aplicação → repetibilidade → escala </a:t>
            </a:r>
            <a:r>
              <a:rPr lang="en-US" sz="1000" b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SEM ARO:</a:t>
            </a:r>
            <a:r>
              <a:rPr lang="en-US" sz="1050" dirty="0">
                <a:solidFill>
                  <a:srgbClr val="5F6F79"/>
                </a:solidFill>
                <a:latin typeface="Arial" charset="0"/>
                <a:ea typeface="Arial" charset="0"/>
                <a:cs typeface="Arial" charset="0"/>
              </a:rPr>
              <a:t> permanece na V1 até validação específica da tensão na </a:t>
            </a:r>
            <a:r>
              <a:rPr lang="en-US" sz="1050" dirty="0">
                <a:solidFill>
                  <a:srgbClr val="5F6F79"/>
                </a:solidFill>
                <a:latin typeface="Arial" charset="0"/>
                <a:ea typeface="Arial" charset="0"/>
                <a:cs typeface="Arial" charset="0"/>
              </a:rPr>
              <a:t>borda.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2080260" y="768350"/>
            <a:ext cx="13304520" cy="7073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Uma camada mais </a:t>
            </a: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clara</a:t>
            </a: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
</a:t>
            </a:r>
            <a:r>
              <a:rPr lang="en-US" sz="2700" dirty="0">
                <a:solidFill>
                  <a:srgbClr val="10151B"/>
                </a:solidFill>
                <a:latin typeface="Trebuchet MS" pitchFamily="34" charset="0"/>
                <a:ea typeface="Trebuchet MS" pitchFamily="34" charset="0"/>
                <a:cs typeface="Trebuchet MS" pitchFamily="34" charset="0"/>
              </a:rPr>
              <a:t>sobre o processo.</a:t>
            </a:r>
            <a:endParaRPr lang="en-US" sz="2700" dirty="0"/>
          </a:p>
        </p:txBody>
      </p:sp>
      <p:sp>
        <p:nvSpPr>
          <p:cNvPr id="5" name="Text 1"/>
          <p:cNvSpPr/>
          <p:nvPr/>
        </p:nvSpPr>
        <p:spPr>
          <a:xfrm>
            <a:off x="1465580" y="3978910"/>
            <a:ext cx="6212840" cy="546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600" dirty="0">
                <a:solidFill>
                  <a:srgbClr val="5B6B75"/>
                </a:solidFill>
                <a:latin typeface="Arial" charset="0"/>
                <a:ea typeface="Arial" charset="0"/>
                <a:cs typeface="Arial" charset="0"/>
              </a:rPr>
              <a:t>Produto, processo e industrialização organizados numa única leitura técnica.</a:t>
            </a:r>
            <a:endParaRPr lang="en-US" sz="1600" dirty="0">
              <a:solidFill>
                <a:srgbClr val="5B6B75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514350" y="4714875"/>
            <a:ext cx="3266926" cy="121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687882"/>
                </a:solidFill>
                <a:latin typeface="Arial" charset="0"/>
                <a:ea typeface="Arial" charset="0"/>
                <a:cs typeface="Arial" charset="0"/>
              </a:rPr>
              <a:t>PROTÓTIPO DE ENGENHARIA · EM DESENVOLVIMENTO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449536" y="4714875"/>
            <a:ext cx="1180114" cy="121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kern="0" spc="1" dirty="0">
                <a:solidFill>
                  <a:srgbClr val="168FDE"/>
                </a:solidFill>
                <a:latin typeface="Arial" charset="0"/>
                <a:ea typeface="Arial" charset="0"/>
                <a:cs typeface="Arial" charset="0"/>
              </a:rPr>
              <a:t>CLEARLAYER · 2026</a:t>
            </a:r>
            <a:endParaRPr lang="en-US" sz="800" dirty="0"/>
          </a:p>
        </p:txBody>
      </p:sp>
      <p:pic>
        <p:nvPicPr>
          <p:cNvPr id="9" name="Imagem 8" descr="2026-08-17 01:07:53.0900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675" y="197485"/>
            <a:ext cx="4946015" cy="4946015"/>
          </a:xfrm>
          <a:prstGeom prst="rect">
            <a:avLst/>
          </a:prstGeom>
        </p:spPr>
      </p:pic>
      <p:pic>
        <p:nvPicPr>
          <p:cNvPr id="10" name="Imagem 9" descr="2026-08-17 01:08:34.7850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1213485"/>
            <a:ext cx="1444625" cy="17259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Arial</vt:lpstr>
      <vt:lpstr>SimSun</vt:lpstr>
      <vt:lpstr>Wingdings</vt:lpstr>
      <vt:lpstr>Trebuchet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9980BED0ADA2518AE961826A1063F801_33</vt:lpwstr>
  </property>
  <property fmtid="{D5CDD505-2E9C-101B-9397-08002B2CF9AE}" pid="3" name="KSOProductBuildVer">
    <vt:lpwstr>2052-26.8.0</vt:lpwstr>
  </property>
</Properties>
</file>